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</a:defRPr>
            </a:pPr>
            <a:r>
              <a:t>A MICRO PROJECT DEMONSTRATION &amp; TECHNICAL REPORT</a:t>
            </a:r>
          </a:p>
          <a:p>
            <a:pPr>
              <a:spcBef>
                <a:spcPts val="1000"/>
              </a:spcBef>
              <a:defRPr sz="3000" b="1">
                <a:solidFill>
                  <a:srgbClr val="FFFFFF"/>
                </a:solidFill>
              </a:defRPr>
            </a:pPr>
            <a:r>
              <a:t>AI-Based Automated College Timetable Generation &amp; Constraint Optimization System</a:t>
            </a:r>
          </a:p>
          <a:p>
            <a:pPr>
              <a:spcBef>
                <a:spcPts val="1000"/>
              </a:spcBef>
              <a:defRPr sz="1500">
                <a:solidFill>
                  <a:srgbClr val="CBD5E1"/>
                </a:solidFill>
              </a:defRPr>
            </a:pPr>
            <a:r>
              <a:t>Powered by Google OR-Tools CP-SAT, Python FastAPI, and React/Tailwind CSS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493776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PROJECT CANDIDATES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• SOWNDARIYA R  (Reg. No: 2303717610422123)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• PRAVEENKUMAR B  (Reg. No: 2303717610421108)</a:t>
            </a:r>
          </a:p>
          <a:p>
            <a:pPr>
              <a:spcBef>
                <a:spcPts val="1000"/>
              </a:spcBef>
              <a:defRPr sz="1100" i="1">
                <a:solidFill>
                  <a:srgbClr val="94A3B8"/>
                </a:solidFill>
              </a:defRPr>
            </a:pPr>
            <a:r>
              <a:t>Bachelor of Engineering in Computer Science and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931920"/>
            <a:ext cx="50292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INSTITUTION DETAILS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COIMBATORE INSTITUTE OF TECHNOLOGY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Government Aided Autonomous Institution Affiliated to Anna University</a:t>
            </a:r>
          </a:p>
          <a:p>
            <a:pPr>
              <a:spcBef>
                <a:spcPts val="800"/>
              </a:spcBef>
              <a:defRPr sz="1100" b="1">
                <a:solidFill>
                  <a:srgbClr val="818CF8"/>
                </a:solidFill>
              </a:defRPr>
            </a:pPr>
            <a:r>
              <a:t>Coimbatore - 641014 | Anna University: Chennai 600 025</a:t>
            </a:r>
            <a:br/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Problem Context &amp; Operational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700" b="1">
                <a:solidFill>
                  <a:srgbClr val="4F46E5"/>
                </a:solidFill>
              </a:defRPr>
            </a:pPr>
            <a:r>
              <a:t>The NP-Hard Challenge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Academic timetabling belongs to the NP-hard University Course Timetabling Problem (UCTP). As constraints increase, the search space grows exponentially.</a:t>
            </a:r>
          </a:p>
          <a:p>
            <a:pPr>
              <a:spcBef>
                <a:spcPts val="2000"/>
              </a:spcBef>
              <a:defRPr sz="1100" i="1">
                <a:solidFill>
                  <a:srgbClr val="64748B"/>
                </a:solidFill>
              </a:defRPr>
            </a:pPr>
            <a:r>
              <a:t>Impact: Human error causes student disruption and administrative delay.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700" b="1">
                <a:solidFill>
                  <a:srgbClr val="E11D48"/>
                </a:solidFill>
              </a:defRPr>
            </a:pPr>
            <a:r>
              <a:t>Manual Scheduling Bottlenecks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Manual compilation takes days of committee meetings, frequently resulting in accidental faculty overlaps, room conflicts, and irregular workload distribution.</a:t>
            </a:r>
          </a:p>
          <a:p>
            <a:pPr>
              <a:spcBef>
                <a:spcPts val="2000"/>
              </a:spcBef>
              <a:defRPr sz="1100" i="1">
                <a:solidFill>
                  <a:srgbClr val="64748B"/>
                </a:solidFill>
              </a:defRPr>
            </a:pPr>
            <a:r>
              <a:t>Impact: Human error causes student disruption and administrative delay.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700" b="1">
                <a:solidFill>
                  <a:srgbClr val="0D9488"/>
                </a:solidFill>
              </a:defRPr>
            </a:pPr>
            <a:r>
              <a:t>Rigid Collegiate Constraints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Engineering colleges enforce complex departmental rules: multi-instructor practicals, 3-hour unbroken labs, association afternoon locks, and non-empty morning hours.</a:t>
            </a:r>
          </a:p>
          <a:p>
            <a:pPr>
              <a:spcBef>
                <a:spcPts val="2000"/>
              </a:spcBef>
              <a:defRPr sz="1100" i="1">
                <a:solidFill>
                  <a:srgbClr val="64748B"/>
                </a:solidFill>
              </a:defRPr>
            </a:pPr>
            <a:r>
              <a:t>Impact: Human error causes student disruption and administrative delay.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SYSTEM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Core Objectives &amp; Project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1. Exact Mathematical Modeling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Formulate course timetabling as an exact Constraint Satisfaction Problem (CSP) solvable via Google OR-Tools CP-SAT without heuristic approximations.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2. Zero Clash Guarantee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Eliminate all teacher double-booking, student cohort clashes, and laboratory venue conflicts across the entire institution.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120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3. Unbroken 3-Hour Labs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Guarantee all practical laboratory courses run as single continuous 3-hour sessions on a single day, strictly respecting lunch and tea breaks.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108960"/>
            <a:ext cx="5120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4. Non-Empty Period 1 (Morning Rule)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Ensure the first period of every working day is actively scheduled across all sections to eliminate idle morning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5120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5. Multi-Faculty Lab Staffing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Simultaneously co-allocate 2 to 3 instructors to each laboratory session based on institutional lab staffing quotas.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663440"/>
            <a:ext cx="5120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6. Enterprise Web Experience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Deliver a responsive React/Tailwind CSS dashboard with section-grouped curriculum management, focus modals, and one-click PDF/CSV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Three-Tier Modern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defRPr sz="1500" b="1">
                <a:solidFill>
                  <a:srgbClr val="4F46E5"/>
                </a:solidFill>
              </a:defRPr>
            </a:pPr>
            <a:r>
              <a:t>PRESENTATION TIER</a:t>
            </a:r>
          </a:p>
          <a:p>
            <a:pPr>
              <a:spcBef>
                <a:spcPts val="400"/>
              </a:spcBef>
              <a:defRPr sz="1100" b="1">
                <a:solidFill>
                  <a:srgbClr val="64748B"/>
                </a:solidFill>
              </a:defRPr>
            </a:pPr>
            <a:r>
              <a:t>React 18 + TypeScript + Vite + Tailwind CSS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Interactive 7-period collegiate timetable grids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Section Focus Modal for high-legibility viewing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Section-grouped curriculum &amp; assignment managers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Client-side RFC 4180 CSV &amp; @media print PDF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defRPr sz="1500" b="1">
                <a:solidFill>
                  <a:srgbClr val="9333EA"/>
                </a:solidFill>
              </a:defRPr>
            </a:pPr>
            <a:r>
              <a:t>APPLICATION TIER</a:t>
            </a:r>
          </a:p>
          <a:p>
            <a:pPr>
              <a:spcBef>
                <a:spcPts val="400"/>
              </a:spcBef>
              <a:defRPr sz="1100" b="1">
                <a:solidFill>
                  <a:srgbClr val="64748B"/>
                </a:solidFill>
              </a:defRPr>
            </a:pPr>
            <a:r>
              <a:t>Python FastAPI RESTful Backend Engine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High-performance asynchronous endpoints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CRUD routers for sections, courses, faculty, and rooms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Pydantic data contracts with optional typing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Payload assembler for solver handoff &amp; solution enrichment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OPTIMIZATION &amp; DATA</a:t>
            </a:r>
          </a:p>
          <a:p>
            <a:pPr>
              <a:spcBef>
                <a:spcPts val="400"/>
              </a:spcBef>
              <a:defRPr sz="1100" b="1">
                <a:solidFill>
                  <a:srgbClr val="64748B"/>
                </a:solidFill>
              </a:defRPr>
            </a:pPr>
            <a:r>
              <a:t>Google OR-Tools CP-SAT + SQLAlchemy ORM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Boolean Satisfiability decision variables (X, F, R, Y)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Hard collision, continuity, and morning bounds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SQLite relational database (timetable.db)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Swappable to PostgreSQL/MySQL via database URL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AI ALGORITHMIC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Google OR-Tools CP-SAT Optimization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Mathematical Decision Variables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X[s, c, d, p] ∈ {0, 1} : Section s attends course c on day d at period p.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F[s, c, d, p, f] ∈ {0, 1} : Faculty f teaches course c to section s at (d, p).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R[s, c, d, p, r] ∈ {0, 1} : Lab room r hosts course c for section s at (d, p).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Y[s, c, d, p_start] ∈ {0, 1} : Single 3-hour continuous lab session starts at period p_start on day 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Mathematical Hard Constraints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1. Section Clash Limit: ∑ c X[s, c, d, p] ≤ 1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2. Non-Empty Period 1: ∑ c X[s, c, d, 0] = 1 (Every day starts with active class)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3. Contiguous 3-Hour Labs: ∑ d,p Y[s,c,d,p] = 1 (All 3h scheduled in 1 session)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4. Multi-Faculty Lab Pool: ∑ f F[s, c, d, p, f] = M · X[s, c, d, p] (M ∈ {2, 3})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5. Faculty Clash Limit: ∑ s,c F[s, c, d, p, f] ≤ 1 (No teacher overlaps)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6. Room Clash Limit: ∑ s,c R[s, c, d, p, r] ≤ 1 (No venue overlaps)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7. Association Lockout: X[s, c, d_assoc, p_assoc] = 0 (Wed / Thu afternoons)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LABORATORY &amp; STAFFING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Unbroken 3-Hour Labs &amp; Multi-Faculty Staffing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Contiguous 3-Hour Lab Block Rule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All 3 lab hours must be conducted in ONE continuous single session on the same day.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Eliminated midday fragmentation: practicals never split into isolated 1-hour or 2-hour slots.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Respects institutional rest intervals: labs do not unergonomically cross Lunch.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Permissible start periods: P0 (Morning P1-P3) or P4 (Afternoon P5-P7).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wrap="square"/>
          <a:lstStyle/>
          <a:p>
            <a:pPr algn="ctr">
              <a:defRPr sz="1600" b="1">
                <a:solidFill>
                  <a:srgbClr val="9333EA"/>
                </a:solidFill>
              </a:defRPr>
            </a:pPr>
            <a:r>
              <a:t>Multi-Faculty Laboratory Pools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Practical courses enforce 2 or 3 faculty members co-assigned simultaneously.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High student-to-faculty lab ratio compliance as mandated by accreditation norms (NBA/AICTE).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The solver synchronizes instructors so neither teacher is double-booked in another lecture hall.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Verified: 18 out of 18 lab sessions strictly staffed by 2 to 3 instructors simultaneously.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Relational Schema &amp; Dynamic Persistence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TABLE: sections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Section ID, Name ('Year 2 - Sec A'), Academic Year Foreign Key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TABLE: subjects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Subject ID, Course Name, Classification (THEORY/LAB), Weekly Hours (3-4h)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2120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TABLE: faculty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Faculty ID, Full Academic Name ('Dr. Rajesh Kannan (HOD)'), Unavailabilities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2120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TABLE: rooms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Room ID, Venue Name ('LH-201', 'L108 Lab'), Lab Boolean Flag, Capacity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52120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TABLE: subject_assignments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Section ID, Subject ID, Required Faculty Count, Faculty Pool JSON, Eligible Labs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572000"/>
            <a:ext cx="52120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TABLE: fixed_slots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Section ID, Day Index, Period Index, Reserved Activity Label ('Association')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USER INTERFACE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Modern Administrative UI &amp; Collegiate Grids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Collegiate Timetable Grid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Renders 7 periods per day with distinct Break and Lunch dividers. Table-fixed proportions ensure no horizontal sliding on standard desktop displays.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Expand Focus Modal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One-click 'Expand View' opens a spacious, large-typography modal view for single-section inspection, complete with dedicated single-page printing.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Section-Grouped Curriculum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Subjects and assignments are structured directly under their respective cohorts, displaying weekly hours, instructor pools, and lab venue badges.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33832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Dynamic CRUD Management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Intuitive forms for adding/deleting instructors, sections, and courses with immediate backend cascade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114800"/>
            <a:ext cx="33832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Export &amp; Documentation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Instant client-side RFC 4180 CSV export and CSS paged media (@media print) for high-resolution PDF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3832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Real-Time Status &amp; Errors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Instant visual feedback displaying solver convergence status and helpful error modals if constraints conflict.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PERFORMANCE &amp;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Empirical Benchmark &amp; Verification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2800" b="1">
                <a:solidFill>
                  <a:srgbClr val="4F46E5"/>
                </a:solidFill>
              </a:defRPr>
            </a:pPr>
            <a:r>
              <a:t>0.84 s</a:t>
            </a:r>
          </a:p>
          <a:p>
            <a:pPr>
              <a:spcBef>
                <a:spcPts val="400"/>
              </a:spcBef>
              <a:defRPr sz="1150" b="1">
                <a:solidFill>
                  <a:srgbClr val="1E293B"/>
                </a:solidFill>
              </a:defRPr>
            </a:pPr>
            <a:r>
              <a:t>CP-SAT Solver Runtime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Sub-second convergence to optimal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150" b="1">
                <a:solidFill>
                  <a:srgbClr val="1E293B"/>
                </a:solidFill>
              </a:defRPr>
            </a:pPr>
            <a:r>
              <a:t>Constraint Satisfaction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Zero faculty, cohort, or room collisions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2800" b="1">
                <a:solidFill>
                  <a:srgbClr val="9333EA"/>
                </a:solidFill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150" b="1">
                <a:solidFill>
                  <a:srgbClr val="1E293B"/>
                </a:solidFill>
              </a:defRPr>
            </a:pPr>
            <a:r>
              <a:t>Period 1 Occupancy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All 30 section-days start with active 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2800" b="1">
                <a:solidFill>
                  <a:srgbClr val="0D9488"/>
                </a:solidFill>
              </a:defRPr>
            </a:pPr>
            <a:r>
              <a:t>18 / 18</a:t>
            </a:r>
          </a:p>
          <a:p>
            <a:pPr>
              <a:spcBef>
                <a:spcPts val="400"/>
              </a:spcBef>
              <a:defRPr sz="1150" b="1">
                <a:solidFill>
                  <a:srgbClr val="1E293B"/>
                </a:solidFill>
              </a:defRPr>
            </a:pPr>
            <a:r>
              <a:t>Continuous 3-Hour Labs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100% of practicals unbroken single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wrap="square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Departmental Benchmark Parameters Evaluated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Scope: 3 Academic Years (Years 2, 3, 4) × 2 Sections each = 6 Student Sections.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Course Catalog: 48 Subjects (24 Theory courses @ 3-4 credits, 24 Practical Laboratories @ 3 credits).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Infrastructure: 11 Total Venues (6 Lecture Halls + 5 Specialized Computing &amp; Hardware Labs).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Faculty Staffing: 25 Distinguished Professors (including HOD), co-teaching labs in pools of 2 or 3.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Total Demand: 144 Weekly class periods assigned with 100% demand satisfaction.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WORKLOAD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Balanced Daily Distribution &amp; Full Friday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Year 2 - Section A  (25 Contact Hours)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Mon: 5h | Tue: 6h | Wed: 4h (+Assn) | Thu: 5h | Fri: 5h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Year 2 - Section B  (25 Contact Hours)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Mon: 5h | Tue: 5h | Wed: 4h (+Assn) | Thu: 6h | Fri: 5h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2120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 wrap="square"/>
          <a:lstStyle/>
          <a:p>
            <a:pPr algn="ctr">
              <a:defRPr sz="1300" b="1">
                <a:solidFill>
                  <a:srgbClr val="9333EA"/>
                </a:solidFill>
              </a:defRPr>
            </a:pPr>
            <a:r>
              <a:t>Year 3 - Section A  (25 Contact Hours)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Mon: 5h | Tue: 6h | Wed: 5h | Thu: 4h (+Assn) | Fri: 5h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2120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 wrap="square"/>
          <a:lstStyle/>
          <a:p>
            <a:pPr algn="ctr">
              <a:defRPr sz="1300" b="1">
                <a:solidFill>
                  <a:srgbClr val="9333EA"/>
                </a:solidFill>
              </a:defRPr>
            </a:pPr>
            <a:r>
              <a:t>Year 3 - Section B  (25 Contact Hours)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Mon: 6h | Tue: 5h | Wed: 5h | Thu: 4h (+Assn) | Fri: 5h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52120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 wrap="square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Year 4 - Section A  (25 Contact Hours)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Mon: 5h | Tue: 5h | Wed: 6h | Thu: 4h (+Assn) | Fri: 5h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 wrap="square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Year 4 - Section B  (25 Contact Hours)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Mon: 5h | Tue: 6h | Wed: 5h | Thu: 4h (+Assn) | Fri: 5h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ALGORITHMIC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Algorithmic Comparison: Why CP-SAT Wins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MANUAL SCHEDULING</a:t>
            </a:r>
          </a:p>
          <a:p>
            <a:pPr>
              <a:spcBef>
                <a:spcPts val="400"/>
              </a:spcBef>
              <a:defRPr sz="1100" b="1">
                <a:solidFill>
                  <a:srgbClr val="64748B"/>
                </a:solidFill>
              </a:defRPr>
            </a:pPr>
            <a:r>
              <a:t>Human Timetable Committees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Days of tedious trial and error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Prone to double-booking and room clashes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Sub-optimal room &amp; lab utilization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Fragile to faculty leave or curriculum changes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Zero mathematical optimality guarantee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GENETIC ALGORITHMS</a:t>
            </a:r>
          </a:p>
          <a:p>
            <a:pPr>
              <a:spcBef>
                <a:spcPts val="400"/>
              </a:spcBef>
              <a:defRPr sz="1100" b="1">
                <a:solidFill>
                  <a:srgbClr val="64748B"/>
                </a:solidFill>
              </a:defRPr>
            </a:pPr>
            <a:r>
              <a:t>Heuristic Evolutionary Search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Stochastic (randomized) convergence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Prone to getting stuck in local minima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High runtime (minutes to hours)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May produce subtle constraint violations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Hard to enforce strict multi-faculty locks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wrap="square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CP-SAT (OUR SOLUTION)</a:t>
            </a:r>
          </a:p>
          <a:p>
            <a:pPr>
              <a:spcBef>
                <a:spcPts val="400"/>
              </a:spcBef>
              <a:defRPr sz="1100" b="1">
                <a:solidFill>
                  <a:srgbClr val="64748B"/>
                </a:solidFill>
              </a:defRPr>
            </a:pPr>
            <a:r>
              <a:t>Boolean Satisfiability (SAT / CSP)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Sub-second convergence (0.84 seconds)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100% mathematical constraint satisfaction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Exact branch-and-bound bound pruning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Guaranteed collision-free feasible schedules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Deterministically testable &amp; verifiable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Future Scope &amp; Platform Extensions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Soft Faculty Preference Penalties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Introduce objective weights reflecting individual instructor preferences (e.g. morning vs. afternoon teaching preferences) to optimize faculty satisfaction.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Inter-Departmental Open Electives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Incorporate multi-commodity flow constraints to support open elective courses attended concurrently by students across multiple departments.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2120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Dynamic Substitute Faculty Recommender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Integrate an automated schedule repair engine to recommend temporary substitute faculty when an instructor takes unexpected leave.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91840"/>
            <a:ext cx="52120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Bi-Directional Calendar Integration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Export generated schedules directly to Google Calendar, Microsoft Outlook, and university ERP systems via iCal / REST APIs.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52120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Multi-Campus Logistics Management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Model travel-time buffer constraints for faculty commuting between multiple academic campuses or distributed university buildings.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Student Attendance &amp; Feedback Integration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Link classroom allocations to historical student batch attendance data for real-time room capacity sizing.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Conclusion &amp; Project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 wrap="square"/>
          <a:lstStyle/>
          <a:p>
            <a:pPr algn="ctr">
              <a:defRPr sz="1700" b="1">
                <a:solidFill>
                  <a:srgbClr val="4F46E5"/>
                </a:solidFill>
              </a:defRPr>
            </a:pPr>
            <a:r>
              <a:t>Key Project Takeaways</a:t>
            </a:r>
          </a:p>
          <a:p>
            <a:pPr>
              <a:spcBef>
                <a:spcPts val="1400"/>
              </a:spcBef>
              <a:defRPr sz="1250">
                <a:solidFill>
                  <a:srgbClr val="1E293B"/>
                </a:solidFill>
              </a:defRPr>
            </a:pPr>
            <a:r>
              <a:t>✔  Proven Mathematical Optimality: Successfully transitioned college timetable scheduling from trial-and-error manual compilation to exact CP-SAT constraint satisfaction.</a:t>
            </a:r>
          </a:p>
          <a:p>
            <a:pPr>
              <a:spcBef>
                <a:spcPts val="1400"/>
              </a:spcBef>
              <a:defRPr sz="1250">
                <a:solidFill>
                  <a:srgbClr val="1E293B"/>
                </a:solidFill>
              </a:defRPr>
            </a:pPr>
            <a:r>
              <a:t>✔  Instantaneous Execution: Solved complex 6-section curriculum across 48 courses, 25 professors, and 11 venues in under 1 second (0.84s).</a:t>
            </a:r>
          </a:p>
          <a:p>
            <a:pPr>
              <a:spcBef>
                <a:spcPts val="1400"/>
              </a:spcBef>
              <a:defRPr sz="1250">
                <a:solidFill>
                  <a:srgbClr val="1E293B"/>
                </a:solidFill>
              </a:defRPr>
            </a:pPr>
            <a:r>
              <a:t>✔  Strict Collegiate Rule Compliance: Achieved 100% adherence to 3-hour unbroken laboratory sessions, Period 1 morning occupancy, multi-faculty lab pools, and reserved Association blocks.</a:t>
            </a:r>
          </a:p>
          <a:p>
            <a:pPr>
              <a:spcBef>
                <a:spcPts val="1400"/>
              </a:spcBef>
              <a:defRPr sz="1250">
                <a:solidFill>
                  <a:srgbClr val="1E293B"/>
                </a:solidFill>
              </a:defRPr>
            </a:pPr>
            <a:r>
              <a:t>✔  Enterprise-Grade Full Stack Platform: Delivered a complete, decoupled web application combining FastAPI backend, SQLAlchemy ORM, and React 18 / Tailwind CSS frontend.</a:t>
            </a:r>
          </a:p>
          <a:p>
            <a:pPr>
              <a:spcBef>
                <a:spcPts val="1400"/>
              </a:spcBef>
              <a:defRPr sz="1250">
                <a:solidFill>
                  <a:srgbClr val="1E293B"/>
                </a:solidFill>
              </a:defRPr>
            </a:pPr>
            <a:r>
              <a:t>✔  Academic Transparency: Built with automated verification testing, instant CSV export, and print-ready PDF reporting meeting Anna University / CIT standards.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000" b="1">
                <a:solidFill>
                  <a:srgbClr val="818CF8"/>
                </a:solidFill>
              </a:defRPr>
            </a:pPr>
            <a:r>
              <a:t>Questions &amp; Technical Demonstration</a:t>
            </a:r>
          </a:p>
          <a:p>
            <a:pPr algn="ctr">
              <a:spcBef>
                <a:spcPts val="2000"/>
              </a:spcBef>
              <a:defRPr sz="1300">
                <a:solidFill>
                  <a:srgbClr val="CBD5E1"/>
                </a:solidFill>
              </a:defRPr>
            </a:pPr>
            <a:r>
              <a:t>SOWNDARIYA R (2303717610422123)  |  PRAVEENKUMAR B (2303717610421108)</a:t>
            </a:r>
            <a:br/>
            <a:r>
              <a:t>Department of Computer Science and Engineering</a:t>
            </a:r>
            <a:br/>
            <a:r>
              <a:t>Coimbatore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